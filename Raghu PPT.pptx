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7" r:id="rId3"/>
    <p:sldId id="268" r:id="rId5"/>
    <p:sldId id="258" r:id="rId6"/>
    <p:sldId id="259" r:id="rId7"/>
    <p:sldId id="260" r:id="rId8"/>
    <p:sldId id="261" r:id="rId9"/>
    <p:sldId id="262" r:id="rId10"/>
    <p:sldId id="263" r:id="rId11"/>
    <p:sldId id="264" r:id="rId12"/>
    <p:sldId id="266" r:id="rId13"/>
    <p:sldId id="267"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9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showGuides="1">
      <p:cViewPr varScale="1">
        <p:scale>
          <a:sx n="53" d="100"/>
          <a:sy n="53" d="100"/>
        </p:scale>
        <p:origin x="180" y="54"/>
      </p:cViewPr>
      <p:guideLst>
        <p:guide orient="horz" pos="219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7" Type="http://schemas.openxmlformats.org/officeDocument/2006/relationships/tableStyles" Target="tableStyles.xml"/><Relationship Id="rId16" Type="http://schemas.openxmlformats.org/officeDocument/2006/relationships/viewProps" Target="viewProps.xml"/><Relationship Id="rId15" Type="http://schemas.openxmlformats.org/officeDocument/2006/relationships/presProps" Target="presProps.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ltLang="en-GB"/>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r>
              <a:rPr lang="en-US" altLang="en-GB"/>
              <a:t>This is the analysis of World happiness report data with interactive visualization with Plotly. Some of the dimensions of the data set are happiness score, GDP per capita, social support, healthy life expectancy, freedom to make life choices, generosity, and perceptions of corruption. These factors are likely to account for some of the differences in happiness rankings between different countries. The analysis aims at identifying meaningful links between the indicators of economic, social and health and happiness. All visualizations are created with colour-blind friendly colour schemes and publication quality formatting to make them accessible, readable and professional (Wu et al., 2025).</a:t>
            </a:r>
            <a:endParaRPr lang="en-US" altLang="en-GB"/>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r>
              <a:rPr lang="en-US" altLang="en-GB"/>
              <a:t>The bar chart shows the 10 happiest nations in the world. These are followed by Denmark, Norway and Iceland, with Finland at the top. These countries are always in the top list of countries around the world, as they have strong economic development, high social support, healthcare, and public trust. The graph shows that although a person's GDP affects happiness, it is not the only factor. The countries, which have effective government and high social welfare rate become excellent. The findings highlight the importance of various facets of happiness, and not only economic wealth, so that this is a multi-faceted analytical issue (Wu et al., 2025).</a:t>
            </a:r>
            <a:endParaRPr lang="en-US" altLang="en-GB"/>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r>
              <a:rPr lang="en-US" altLang="en-GB"/>
              <a:t>This scatter graph looks at the correlation between GDP per capita and happiness score. The positive sloping trend line shows that higher income levels tend to be associated with higher levels of happiness in countries. But there are some countries that have high happiness values, even though they do have moderate GDP values, suggesting that there are other factors that affect happiness. Economic growth is the source of resources to fund other services and institutions, such as healthcare and education, but it is not enough to ensure happiness. The visualization helps to strengthen the linkage between financial performance and social and institutional development. In this regard, policy makers need to turn their attention towards balance development strategies and not just economic indicators (Yousfi, Chiadmi and Rhanoui, 2022).</a:t>
            </a:r>
            <a:endParaRPr lang="en-US" altLang="en-GB"/>
          </a:p>
          <a:p>
            <a:endParaRPr lang="en-US" altLang="en-GB"/>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r>
              <a:rPr lang="en-US" altLang="en-GB"/>
              <a:t>This slide is the combination of two key determinants of happiness: social support and health life expectancy. There is a strong positive correlation between both variables with the happiness scores. Countries that offer social supports such as families, friends, and communities have higher levels of life satisfaction. Likewise, a healthier society lives longer and has more productive lives, directly impacting happiness. The results point out that governments should invest in building community as well as economic development, and in health systems. The combination of these indicators accounts for a large share of the happiness country differences (Yousfi, Chiadmi and Rhanoui, 2022).</a:t>
            </a:r>
            <a:endParaRPr lang="en-US" altLang="en-GB"/>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r>
              <a:rPr lang="en-US" altLang="en-GB"/>
              <a:t>Another factor that brings happiness is having the freedom to make personal decisions. In societies with more individual autonomy, there is higher satisfaction with life. Generosity also has a positive influence, but at a comparatively lower magnitude than GDP and social support. Conversely, individuals who have a negative perception of corruption also show a greater level of trust and confidence in institutions. All of these factors show that governance quality and social values have a considerable impact on national happiness. However, as well as economic development, improving transparency, encouraging civic involvement and safeguarding individual freedoms can improve citizens' lives (Kumar et al., 2022).</a:t>
            </a:r>
            <a:endParaRPr lang="en-US" altLang="en-GB"/>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r>
              <a:rPr lang="en-US" altLang="en-GB"/>
              <a:t>The correlation analysis examines the strength of the relationship between each of the numerical variables and happiness score. The strongest positive correlations are with GDP per capita, social support and healthy life expectancy which are the key determinants of national happiness. Freedom makes a strong contribution and generosity has a relatively low association. Correlation is not cause and effect, but it indicates which variables should be explored further. This visualization helps policy makers and researchers identify the most promising investments for enhancing overall human happiness and citizen well-being (Kumar et al., 2022).</a:t>
            </a:r>
            <a:endParaRPr lang="en-US" altLang="en-GB"/>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r>
              <a:rPr lang="en-US" altLang="en-GB"/>
              <a:t>The histogram shows the distribution of happiness scores across all countries and shows that most countries are in a range of happiness in between the highest and lowest scores, with relatively few countries being in the higher or lower extreme. The radar chart provides a visual comparison of the top countries in each of the indicators. Finland, Denmark, Norway and Iceland show consistently high levels of GDP, health, social support and freedom, indicating that a balance of development leads to greater happiness. These countries don't do one thing exceptionally well, but rather perform well in a number of areas. This is a multidimensional comparison which stresses the complexity of measuring and enhancing national well-being (Bingham, 2023).</a:t>
            </a:r>
            <a:endParaRPr lang="en-US" altLang="en-GB"/>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r>
              <a:rPr lang="en-US" altLang="en-GB"/>
              <a:t> You can now view your Streamlit app in your browser.</a:t>
            </a:r>
            <a:endParaRPr lang="en-US" altLang="en-GB"/>
          </a:p>
          <a:p>
            <a:endParaRPr lang="en-US" altLang="en-GB"/>
          </a:p>
          <a:p>
            <a:r>
              <a:rPr lang="en-US" altLang="en-GB"/>
              <a:t>  Local URL: http://localhost:8502</a:t>
            </a:r>
            <a:endParaRPr lang="en-US" altLang="en-GB"/>
          </a:p>
          <a:p>
            <a:r>
              <a:rPr lang="en-US" altLang="en-GB"/>
              <a:t>  Network URL: http://192.168.1.4:8502</a:t>
            </a:r>
            <a:br>
              <a:rPr lang="en-US" altLang="en-GB"/>
            </a:br>
            <a:br>
              <a:rPr lang="en-US" altLang="en-GB"/>
            </a:br>
            <a:r>
              <a:rPr lang="en-US" altLang="en-GB"/>
              <a:t>The Streamlit dashboard renders this static data analysis as a live web-app that allows users to interact with the World Happiness Report. It offers a user-friendly interface and sidebar filters for the displays of happiness score and the number of top-ranked countries. Graphs are interactive and use Plotly to zoom, pan and display data points with hover information, and KPIs provide a concise summary of key metrics. There's also a downloadable filtered data set that can be used for additional  (Bingham, 2023)</a:t>
            </a:r>
            <a:endParaRPr lang="en-US" altLang="en-GB"/>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ltLang="en-GB"/>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ltLang="en-GB"/>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bg>
      <p:bgPr>
        <a:solidFill>
          <a:schemeClr val="bg1"/>
        </a:solidFill>
        <a:effectLst/>
      </p:bgPr>
    </p:bg>
    <p:spTree>
      <p:nvGrpSpPr>
        <p:cNvPr id="1" name=""/>
        <p:cNvGrpSpPr/>
        <p:nvPr/>
      </p:nvGrpSpPr>
      <p:grpSpPr>
        <a:xfrm>
          <a:off x="0" y="0"/>
          <a:ext cx="0" cy="0"/>
          <a:chOff x="0" y="0"/>
          <a:chExt cx="0" cy="0"/>
        </a:xfrm>
      </p:grpSpPr>
      <p:pic>
        <p:nvPicPr>
          <p:cNvPr id="2050" name="Picture 2"/>
          <p:cNvPicPr>
            <a:picLocks noChangeAspect="1"/>
          </p:cNvPicPr>
          <p:nvPr/>
        </p:nvPicPr>
        <p:blipFill>
          <a:blip r:embed="rId2"/>
          <a:stretch>
            <a:fillRect/>
          </a:stretch>
        </p:blipFill>
        <p:spPr>
          <a:xfrm>
            <a:off x="0" y="0"/>
            <a:ext cx="12192000" cy="6858000"/>
          </a:xfrm>
          <a:prstGeom prst="rect">
            <a:avLst/>
          </a:prstGeom>
          <a:noFill/>
          <a:ln w="9525">
            <a:noFill/>
          </a:ln>
        </p:spPr>
      </p:pic>
      <p:sp>
        <p:nvSpPr>
          <p:cNvPr id="2051" name="Rectangle 3"/>
          <p:cNvSpPr>
            <a:spLocks noGrp="1" noChangeArrowheads="1"/>
          </p:cNvSpPr>
          <p:nvPr>
            <p:ph type="ctrTitle"/>
          </p:nvPr>
        </p:nvSpPr>
        <p:spPr>
          <a:xfrm>
            <a:off x="2063751" y="1701800"/>
            <a:ext cx="9211733" cy="1082675"/>
          </a:xfrm>
        </p:spPr>
        <p:txBody>
          <a:bodyPr/>
          <a:lstStyle>
            <a:lvl1pPr algn="r">
              <a:defRPr/>
            </a:lvl1pPr>
          </a:lstStyle>
          <a:p>
            <a:pPr lvl="0"/>
            <a:r>
              <a:rPr lang="en-US" altLang="zh-CN" noProof="0" smtClean="0"/>
              <a:t>Click to edit Master title style</a:t>
            </a:r>
            <a:endParaRPr lang="en-US" altLang="zh-CN" noProof="0" smtClean="0"/>
          </a:p>
        </p:txBody>
      </p:sp>
      <p:sp>
        <p:nvSpPr>
          <p:cNvPr id="2052" name="Rectangle 4"/>
          <p:cNvSpPr>
            <a:spLocks noGrp="1" noChangeArrowheads="1"/>
          </p:cNvSpPr>
          <p:nvPr>
            <p:ph type="subTitle" idx="1"/>
          </p:nvPr>
        </p:nvSpPr>
        <p:spPr>
          <a:xfrm>
            <a:off x="2063751" y="2927350"/>
            <a:ext cx="9218083" cy="1752600"/>
          </a:xfrm>
        </p:spPr>
        <p:txBody>
          <a:bodyPr/>
          <a:lstStyle>
            <a:lvl1pPr marL="0" indent="0" algn="r">
              <a:buFontTx/>
              <a:buNone/>
              <a:defRPr/>
            </a:lvl1pPr>
          </a:lstStyle>
          <a:p>
            <a:pPr lvl="0"/>
            <a:r>
              <a:rPr lang="en-US" altLang="zh-CN" noProof="0" smtClean="0"/>
              <a:t>Click to edit Master subtitle style</a:t>
            </a:r>
            <a:endParaRPr lang="en-US" altLang="zh-CN" noProof="0" smtClean="0"/>
          </a:p>
        </p:txBody>
      </p:sp>
      <p:sp>
        <p:nvSpPr>
          <p:cNvPr id="9" name="Rectangle 5"/>
          <p:cNvSpPr>
            <a:spLocks noGrp="1" noChangeArrowheads="1"/>
          </p:cNvSpPr>
          <p:nvPr>
            <p:ph type="dt" sz="half" idx="2"/>
          </p:nvPr>
        </p:nvSpPr>
        <p:spPr bwMode="auto">
          <a:xfrm>
            <a:off x="609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63A1C593-65D0-4073-BCC9-577B9352EA97}" type="datetimeFigureOut">
              <a:rPr lang="en-US" smtClean="0"/>
            </a:fld>
            <a:endParaRPr lang="en-US"/>
          </a:p>
        </p:txBody>
      </p:sp>
      <p:sp>
        <p:nvSpPr>
          <p:cNvPr id="10" name="Rectangle 6"/>
          <p:cNvSpPr>
            <a:spLocks noGrp="1" noChangeArrowheads="1"/>
          </p:cNvSpPr>
          <p:nvPr>
            <p:ph type="ftr" sz="quarter" idx="3"/>
          </p:nvPr>
        </p:nvSpPr>
        <p:spPr bwMode="auto">
          <a:xfrm>
            <a:off x="4165600" y="6245225"/>
            <a:ext cx="3860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endParaRPr lang="en-US"/>
          </a:p>
        </p:txBody>
      </p:sp>
      <p:sp>
        <p:nvSpPr>
          <p:cNvPr id="11" name="Rectangle 7"/>
          <p:cNvSpPr>
            <a:spLocks noGrp="1" noChangeArrowheads="1"/>
          </p:cNvSpPr>
          <p:nvPr>
            <p:ph type="sldNum" sz="quarter" idx="4"/>
          </p:nvPr>
        </p:nvSpPr>
        <p:spPr bwMode="auto">
          <a:xfrm>
            <a:off x="8737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9B618960-8005-486C-9A75-10CB2AAC16F9}" type="slidenum">
              <a:rPr lang="en-US" smtClean="0"/>
            </a:fld>
            <a:endParaRPr lang="en-US"/>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1" y="4589463"/>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174750"/>
            <a:ext cx="5384800" cy="49530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97600" y="1174750"/>
            <a:ext cx="5384800" cy="49530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p>
            <a:endParaRPr lang="en-US"/>
          </a:p>
        </p:txBody>
      </p:sp>
      <p:sp>
        <p:nvSpPr>
          <p:cNvPr id="7" name="Slide Number Placeholder 6"/>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317"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40317"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40317" y="2505075"/>
            <a:ext cx="5158316"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71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p>
            <a:endParaRPr lang="en-US"/>
          </a:p>
        </p:txBody>
      </p:sp>
      <p:sp>
        <p:nvSpPr>
          <p:cNvPr id="9" name="Slide Number Placeholder 8"/>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p>
            <a:endParaRPr lang="en-US"/>
          </a:p>
        </p:txBody>
      </p:sp>
      <p:sp>
        <p:nvSpPr>
          <p:cNvPr id="5" name="Slide Number Placeholder 4"/>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p>
            <a:endParaRPr lang="en-US"/>
          </a:p>
        </p:txBody>
      </p:sp>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717"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p>
            <a:endParaRPr lang="en-US"/>
          </a:p>
        </p:txBody>
      </p:sp>
      <p:sp>
        <p:nvSpPr>
          <p:cNvPr id="7" name="Slide Number Placeholder 6"/>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717" y="987425"/>
            <a:ext cx="617220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base" latinLnBrk="0" hangingPunct="1">
              <a:lnSpc>
                <a:spcPct val="100000"/>
              </a:lnSpc>
              <a:spcBef>
                <a:spcPct val="20000"/>
              </a:spcBef>
              <a:spcAft>
                <a:spcPct val="0"/>
              </a:spcAft>
              <a:buClrTx/>
              <a:buSzTx/>
              <a:buFontTx/>
              <a:buNone/>
              <a:defRPr/>
            </a:pPr>
            <a:endParaRPr kumimoji="0" lang="en-US" sz="3200" b="0" i="0" u="none" strike="noStrike" kern="1200" cap="none" spc="0" normalizeH="0" baseline="0" noProof="0" smtClean="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p>
            <a:endParaRPr lang="en-US"/>
          </a:p>
        </p:txBody>
      </p:sp>
      <p:sp>
        <p:nvSpPr>
          <p:cNvPr id="7" name="Slide Number Placeholder 6"/>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190500"/>
            <a:ext cx="2743200" cy="593725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190500"/>
            <a:ext cx="8026400" cy="5937250"/>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2.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pic>
        <p:nvPicPr>
          <p:cNvPr id="1026" name="Picture 3"/>
          <p:cNvPicPr>
            <a:picLocks noChangeAspect="1"/>
          </p:cNvPicPr>
          <p:nvPr/>
        </p:nvPicPr>
        <p:blipFill>
          <a:blip r:embed="rId12"/>
          <a:stretch>
            <a:fillRect/>
          </a:stretch>
        </p:blipFill>
        <p:spPr>
          <a:xfrm>
            <a:off x="-8467" y="0"/>
            <a:ext cx="12200467" cy="6858000"/>
          </a:xfrm>
          <a:prstGeom prst="rect">
            <a:avLst/>
          </a:prstGeom>
          <a:noFill/>
          <a:ln w="9525">
            <a:noFill/>
          </a:ln>
        </p:spPr>
      </p:pic>
      <p:sp>
        <p:nvSpPr>
          <p:cNvPr id="1027" name="Rectangle 3"/>
          <p:cNvSpPr>
            <a:spLocks noGrp="1"/>
          </p:cNvSpPr>
          <p:nvPr>
            <p:ph type="title"/>
          </p:nvPr>
        </p:nvSpPr>
        <p:spPr>
          <a:xfrm>
            <a:off x="609600" y="190500"/>
            <a:ext cx="10972800" cy="582613"/>
          </a:xfrm>
          <a:prstGeom prst="rect">
            <a:avLst/>
          </a:prstGeom>
          <a:noFill/>
          <a:ln w="9525">
            <a:noFill/>
          </a:ln>
        </p:spPr>
        <p:txBody>
          <a:bodyPr anchor="ctr" anchorCtr="0"/>
          <a:p>
            <a:pPr lvl="0"/>
            <a:r>
              <a:rPr lang="en-US" altLang="zh-CN" dirty="0"/>
              <a:t>Click to edit Master title style</a:t>
            </a:r>
            <a:endParaRPr lang="en-US" altLang="zh-CN" dirty="0"/>
          </a:p>
        </p:txBody>
      </p:sp>
      <p:sp>
        <p:nvSpPr>
          <p:cNvPr id="1028" name="Rectangle 4"/>
          <p:cNvSpPr>
            <a:spLocks noGrp="1"/>
          </p:cNvSpPr>
          <p:nvPr>
            <p:ph type="body" idx="1"/>
          </p:nvPr>
        </p:nvSpPr>
        <p:spPr>
          <a:xfrm>
            <a:off x="609600" y="1174750"/>
            <a:ext cx="10972800" cy="4953000"/>
          </a:xfrm>
          <a:prstGeom prst="rect">
            <a:avLst/>
          </a:prstGeom>
          <a:noFill/>
          <a:ln w="9525">
            <a:noFill/>
          </a:ln>
        </p:spPr>
        <p:txBody>
          <a:bodyPr/>
          <a:p>
            <a:pPr lvl="0"/>
            <a:r>
              <a:rPr lang="en-US" altLang="zh-CN" dirty="0"/>
              <a:t>Click to edit Master text styles</a:t>
            </a:r>
            <a:endParaRPr lang="en-US" altLang="zh-CN" dirty="0"/>
          </a:p>
          <a:p>
            <a:pPr lvl="1"/>
            <a:r>
              <a:rPr lang="en-US" altLang="zh-CN" dirty="0"/>
              <a:t>Second level</a:t>
            </a:r>
            <a:endParaRPr lang="en-US" altLang="zh-CN" dirty="0"/>
          </a:p>
          <a:p>
            <a:pPr lvl="2"/>
            <a:r>
              <a:rPr lang="en-US" altLang="zh-CN" dirty="0"/>
              <a:t>Third level</a:t>
            </a:r>
            <a:endParaRPr lang="en-US" altLang="zh-CN" dirty="0"/>
          </a:p>
          <a:p>
            <a:pPr lvl="3"/>
            <a:r>
              <a:rPr lang="en-US" altLang="zh-CN" dirty="0"/>
              <a:t>Fourth level</a:t>
            </a:r>
            <a:endParaRPr lang="en-US" altLang="zh-CN" dirty="0"/>
          </a:p>
          <a:p>
            <a:pPr lvl="4"/>
            <a:r>
              <a:rPr lang="en-US" altLang="zh-CN" dirty="0"/>
              <a:t>Fifth level</a:t>
            </a:r>
            <a:endParaRPr lang="en-US" altLang="zh-CN" dirty="0"/>
          </a:p>
        </p:txBody>
      </p:sp>
      <p:sp>
        <p:nvSpPr>
          <p:cNvPr id="1029" name="Rectangle 5"/>
          <p:cNvSpPr>
            <a:spLocks noGrp="1" noChangeArrowheads="1"/>
          </p:cNvSpPr>
          <p:nvPr>
            <p:ph type="dt" sz="half" idx="2"/>
          </p:nvPr>
        </p:nvSpPr>
        <p:spPr bwMode="auto">
          <a:xfrm>
            <a:off x="609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400"/>
            </a:lvl1pPr>
          </a:lstStyle>
          <a:p>
            <a:fld id="{63A1C593-65D0-4073-BCC9-577B9352EA97}" type="datetimeFigureOut">
              <a:rPr lang="en-US" smtClean="0"/>
            </a:fld>
            <a:endParaRPr lang="en-US"/>
          </a:p>
        </p:txBody>
      </p:sp>
      <p:sp>
        <p:nvSpPr>
          <p:cNvPr id="1030" name="Rectangle 6"/>
          <p:cNvSpPr>
            <a:spLocks noGrp="1" noChangeArrowheads="1"/>
          </p:cNvSpPr>
          <p:nvPr>
            <p:ph type="ftr" sz="quarter" idx="3"/>
          </p:nvPr>
        </p:nvSpPr>
        <p:spPr bwMode="auto">
          <a:xfrm>
            <a:off x="4165600" y="6245225"/>
            <a:ext cx="3860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1400"/>
            </a:lvl1pPr>
          </a:lstStyle>
          <a:p>
            <a:endParaRPr lang="en-US"/>
          </a:p>
        </p:txBody>
      </p:sp>
      <p:sp>
        <p:nvSpPr>
          <p:cNvPr id="1031" name="Rectangle 7"/>
          <p:cNvSpPr>
            <a:spLocks noGrp="1" noChangeArrowheads="1"/>
          </p:cNvSpPr>
          <p:nvPr>
            <p:ph type="sldNum" sz="quarter" idx="4"/>
          </p:nvPr>
        </p:nvSpPr>
        <p:spPr bwMode="auto">
          <a:xfrm>
            <a:off x="8737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400"/>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rtl="0" fontAlgn="base">
        <a:spcBef>
          <a:spcPct val="0"/>
        </a:spcBef>
        <a:spcAft>
          <a:spcPct val="0"/>
        </a:spcAft>
        <a:defRPr sz="3600" kern="1200">
          <a:solidFill>
            <a:schemeClr val="tx1"/>
          </a:solidFill>
          <a:latin typeface="+mj-lt"/>
          <a:ea typeface="+mj-ea"/>
          <a:cs typeface="+mj-cs"/>
        </a:defRPr>
      </a:lvl1pPr>
      <a:lvl2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2pPr>
      <a:lvl3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3pPr>
      <a:lvl4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4pPr>
      <a:lvl5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5pPr>
      <a:lvl6pPr marL="4572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6pPr>
      <a:lvl7pPr marL="9144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7pPr>
      <a:lvl8pPr marL="13716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8pPr>
      <a:lvl9pPr marL="18288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image" Target="../media/image8.png"/></Relationships>
</file>

<file path=ppt/slides/_rels/slide9.xml.rels><?xml version="1.0" encoding="UTF-8" standalone="yes"?>
<Relationships xmlns="http://schemas.openxmlformats.org/package/2006/relationships"><Relationship Id="rId6" Type="http://schemas.openxmlformats.org/officeDocument/2006/relationships/notesSlide" Target="../notesSlides/notesSlide9.xml"/><Relationship Id="rId5" Type="http://schemas.openxmlformats.org/officeDocument/2006/relationships/slideLayout" Target="../slideLayouts/slideLayout1.xml"/><Relationship Id="rId4" Type="http://schemas.openxmlformats.org/officeDocument/2006/relationships/image" Target="../media/image12.png"/><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image" Target="../media/image9.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a:xfrm>
            <a:off x="1181101" y="628015"/>
            <a:ext cx="9211733" cy="1082675"/>
          </a:xfrm>
        </p:spPr>
        <p:txBody>
          <a:bodyPr/>
          <a:p>
            <a:pPr algn="just"/>
            <a:r>
              <a:rPr lang="en-US" altLang="en-GB" sz="4400" b="1"/>
              <a:t>World Happiness Report Analysis using Plotly</a:t>
            </a:r>
            <a:endParaRPr lang="en-US" altLang="en-GB" sz="4400" b="1"/>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a:xfrm>
            <a:off x="5160011" y="872490"/>
            <a:ext cx="9211733" cy="1082675"/>
          </a:xfrm>
        </p:spPr>
        <p:txBody>
          <a:bodyPr/>
          <a:p>
            <a:pPr algn="just"/>
            <a:r>
              <a:rPr lang="en-US" altLang="en-GB" b="1"/>
              <a:t>Overview of the Dataset</a:t>
            </a:r>
            <a:endParaRPr lang="en-US" altLang="en-GB" b="1"/>
          </a:p>
        </p:txBody>
      </p:sp>
      <p:sp>
        <p:nvSpPr>
          <p:cNvPr id="3" name="Subtitle 2"/>
          <p:cNvSpPr>
            <a:spLocks noGrp="1"/>
          </p:cNvSpPr>
          <p:nvPr>
            <p:ph type="subTitle" idx="1"/>
          </p:nvPr>
        </p:nvSpPr>
        <p:spPr>
          <a:xfrm>
            <a:off x="5519420" y="2070735"/>
            <a:ext cx="6102985" cy="1752600"/>
          </a:xfrm>
        </p:spPr>
        <p:txBody>
          <a:bodyPr/>
          <a:p>
            <a:pPr marL="457200" indent="-457200" algn="just">
              <a:buFont typeface="Arial" panose="020B0604020202020204" pitchFamily="34" charset="0"/>
              <a:buChar char="•"/>
            </a:pPr>
            <a:r>
              <a:rPr lang="en-US" altLang="en-GB" sz="1800">
                <a:latin typeface="Times New Roman" panose="02020603050405020304" charset="0"/>
                <a:cs typeface="Times New Roman" panose="02020603050405020304" charset="0"/>
              </a:rPr>
              <a:t>Analysis carried out with the World Happiness Report database.</a:t>
            </a:r>
            <a:endParaRPr lang="en-US" altLang="en-GB" sz="1800">
              <a:latin typeface="Times New Roman" panose="02020603050405020304" charset="0"/>
              <a:cs typeface="Times New Roman" panose="02020603050405020304" charset="0"/>
            </a:endParaRPr>
          </a:p>
          <a:p>
            <a:pPr marL="457200" indent="-457200" algn="just">
              <a:buFont typeface="Arial" panose="020B0604020202020204" pitchFamily="34" charset="0"/>
              <a:buChar char="•"/>
            </a:pPr>
            <a:r>
              <a:rPr lang="en-US" altLang="en-GB" sz="1800">
                <a:latin typeface="Times New Roman" panose="02020603050405020304" charset="0"/>
                <a:cs typeface="Times New Roman" panose="02020603050405020304" charset="0"/>
              </a:rPr>
              <a:t>In the dataset you will find country-specific happiness indicators.</a:t>
            </a:r>
            <a:endParaRPr lang="en-US" altLang="en-GB" sz="1800">
              <a:latin typeface="Times New Roman" panose="02020603050405020304" charset="0"/>
              <a:cs typeface="Times New Roman" panose="02020603050405020304" charset="0"/>
            </a:endParaRPr>
          </a:p>
          <a:p>
            <a:pPr marL="457200" indent="-457200" algn="just">
              <a:buFont typeface="Arial" panose="020B0604020202020204" pitchFamily="34" charset="0"/>
              <a:buChar char="•"/>
            </a:pPr>
            <a:r>
              <a:rPr lang="en-US" altLang="en-GB" sz="1800">
                <a:latin typeface="Times New Roman" panose="02020603050405020304" charset="0"/>
                <a:cs typeface="Times New Roman" panose="02020603050405020304" charset="0"/>
              </a:rPr>
              <a:t>Combines qualitative, ordinal and quantitative data.</a:t>
            </a:r>
            <a:endParaRPr lang="en-US" altLang="en-GB" sz="1800">
              <a:latin typeface="Times New Roman" panose="02020603050405020304" charset="0"/>
              <a:cs typeface="Times New Roman" panose="02020603050405020304" charset="0"/>
            </a:endParaRPr>
          </a:p>
          <a:p>
            <a:pPr marL="457200" indent="-457200" algn="just">
              <a:buFont typeface="Arial" panose="020B0604020202020204" pitchFamily="34" charset="0"/>
              <a:buChar char="•"/>
            </a:pPr>
            <a:r>
              <a:rPr lang="en-US" altLang="en-GB" sz="1800">
                <a:latin typeface="Times New Roman" panose="02020603050405020304" charset="0"/>
                <a:cs typeface="Times New Roman" panose="02020603050405020304" charset="0"/>
              </a:rPr>
              <a:t>All publication-ready visualizations were created using Plotly.</a:t>
            </a:r>
            <a:endParaRPr lang="en-US" altLang="en-GB" sz="1800">
              <a:latin typeface="Times New Roman" panose="02020603050405020304" charset="0"/>
              <a:cs typeface="Times New Roman" panose="02020603050405020304" charset="0"/>
            </a:endParaRPr>
          </a:p>
          <a:p>
            <a:pPr marL="457200" indent="-457200" algn="just">
              <a:buFont typeface="Arial" panose="020B0604020202020204" pitchFamily="34" charset="0"/>
              <a:buChar char="•"/>
            </a:pPr>
            <a:r>
              <a:rPr lang="en-US" altLang="en-GB" sz="1800">
                <a:latin typeface="Times New Roman" panose="02020603050405020304" charset="0"/>
                <a:cs typeface="Times New Roman" panose="02020603050405020304" charset="0"/>
              </a:rPr>
              <a:t>To identify factors that affect happiness in the world.</a:t>
            </a:r>
            <a:endParaRPr lang="en-US" altLang="en-GB" sz="1800">
              <a:latin typeface="Times New Roman" panose="02020603050405020304" charset="0"/>
              <a:cs typeface="Times New Roman" panose="0202060305040502030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a:xfrm>
            <a:off x="5064761" y="220345"/>
            <a:ext cx="9211733" cy="1082675"/>
          </a:xfrm>
        </p:spPr>
        <p:txBody>
          <a:bodyPr/>
          <a:p>
            <a:pPr algn="just"/>
            <a:r>
              <a:rPr lang="en-US" altLang="en-GB" b="1"/>
              <a:t>Top Happiest Countries</a:t>
            </a:r>
            <a:endParaRPr lang="en-US" altLang="en-GB" b="1"/>
          </a:p>
        </p:txBody>
      </p:sp>
      <p:sp>
        <p:nvSpPr>
          <p:cNvPr id="3" name="Subtitle 2"/>
          <p:cNvSpPr>
            <a:spLocks noGrp="1"/>
          </p:cNvSpPr>
          <p:nvPr>
            <p:ph type="subTitle" idx="1"/>
          </p:nvPr>
        </p:nvSpPr>
        <p:spPr>
          <a:xfrm>
            <a:off x="5519420" y="1303020"/>
            <a:ext cx="6102985" cy="1752600"/>
          </a:xfrm>
        </p:spPr>
        <p:txBody>
          <a:bodyPr/>
          <a:p>
            <a:pPr marL="457200" indent="-457200" algn="just">
              <a:buFont typeface="Arial" panose="020B0604020202020204" pitchFamily="34" charset="0"/>
              <a:buChar char="•"/>
            </a:pPr>
            <a:r>
              <a:rPr lang="en-US" altLang="en-GB" sz="1800">
                <a:latin typeface="Times New Roman" panose="02020603050405020304" charset="0"/>
                <a:cs typeface="Times New Roman" panose="02020603050405020304" charset="0"/>
              </a:rPr>
              <a:t>Finland is the most happy country in the world.</a:t>
            </a:r>
            <a:endParaRPr lang="en-US" altLang="en-GB" sz="1800">
              <a:latin typeface="Times New Roman" panose="02020603050405020304" charset="0"/>
              <a:cs typeface="Times New Roman" panose="02020603050405020304" charset="0"/>
            </a:endParaRPr>
          </a:p>
          <a:p>
            <a:pPr marL="457200" indent="-457200" algn="just">
              <a:buFont typeface="Arial" panose="020B0604020202020204" pitchFamily="34" charset="0"/>
              <a:buChar char="•"/>
            </a:pPr>
            <a:r>
              <a:rPr lang="en-US" altLang="en-GB" sz="1800">
                <a:latin typeface="Times New Roman" panose="02020603050405020304" charset="0"/>
                <a:cs typeface="Times New Roman" panose="02020603050405020304" charset="0"/>
              </a:rPr>
              <a:t>The top countries are the Nordic countries.</a:t>
            </a:r>
            <a:endParaRPr lang="en-US" altLang="en-GB" sz="1800">
              <a:latin typeface="Times New Roman" panose="02020603050405020304" charset="0"/>
              <a:cs typeface="Times New Roman" panose="02020603050405020304" charset="0"/>
            </a:endParaRPr>
          </a:p>
          <a:p>
            <a:pPr marL="457200" indent="-457200" algn="just">
              <a:buFont typeface="Arial" panose="020B0604020202020204" pitchFamily="34" charset="0"/>
              <a:buChar char="•"/>
            </a:pPr>
            <a:r>
              <a:rPr lang="en-US" altLang="en-GB" sz="1800">
                <a:latin typeface="Times New Roman" panose="02020603050405020304" charset="0"/>
                <a:cs typeface="Times New Roman" panose="02020603050405020304" charset="0"/>
              </a:rPr>
              <a:t>A score of above 7.4 is consistently present for happiness.</a:t>
            </a:r>
            <a:endParaRPr lang="en-US" altLang="en-GB" sz="1800">
              <a:latin typeface="Times New Roman" panose="02020603050405020304" charset="0"/>
              <a:cs typeface="Times New Roman" panose="02020603050405020304" charset="0"/>
            </a:endParaRPr>
          </a:p>
          <a:p>
            <a:pPr marL="457200" indent="-457200" algn="just">
              <a:buFont typeface="Arial" panose="020B0604020202020204" pitchFamily="34" charset="0"/>
              <a:buChar char="•"/>
            </a:pPr>
            <a:r>
              <a:rPr lang="en-US" altLang="en-GB" sz="1800">
                <a:latin typeface="Times New Roman" panose="02020603050405020304" charset="0"/>
                <a:cs typeface="Times New Roman" panose="02020603050405020304" charset="0"/>
              </a:rPr>
              <a:t>Well-developed social systems play an important role.</a:t>
            </a:r>
            <a:endParaRPr lang="en-US" altLang="en-GB" sz="1800">
              <a:latin typeface="Times New Roman" panose="02020603050405020304" charset="0"/>
              <a:cs typeface="Times New Roman" panose="02020603050405020304" charset="0"/>
            </a:endParaRPr>
          </a:p>
          <a:p>
            <a:pPr marL="457200" indent="-457200" algn="just">
              <a:buFont typeface="Arial" panose="020B0604020202020204" pitchFamily="34" charset="0"/>
              <a:buChar char="•"/>
            </a:pPr>
            <a:r>
              <a:rPr lang="en-US" altLang="en-GB" sz="1800">
                <a:latin typeface="Times New Roman" panose="02020603050405020304" charset="0"/>
                <a:cs typeface="Times New Roman" panose="02020603050405020304" charset="0"/>
              </a:rPr>
              <a:t>GDP is not sufficient to account for rankings.</a:t>
            </a:r>
            <a:endParaRPr lang="en-US" altLang="en-GB" sz="1800">
              <a:latin typeface="Times New Roman" panose="02020603050405020304" charset="0"/>
              <a:cs typeface="Times New Roman" panose="02020603050405020304" charset="0"/>
            </a:endParaRPr>
          </a:p>
        </p:txBody>
      </p:sp>
      <p:pic>
        <p:nvPicPr>
          <p:cNvPr id="4" name="Picture 3"/>
          <p:cNvPicPr>
            <a:picLocks noChangeAspect="1"/>
          </p:cNvPicPr>
          <p:nvPr/>
        </p:nvPicPr>
        <p:blipFill>
          <a:blip r:embed="rId1"/>
          <a:stretch>
            <a:fillRect/>
          </a:stretch>
        </p:blipFill>
        <p:spPr>
          <a:xfrm>
            <a:off x="0" y="3175635"/>
            <a:ext cx="10718800" cy="368236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a:xfrm>
            <a:off x="5160011" y="301625"/>
            <a:ext cx="9211733" cy="1082675"/>
          </a:xfrm>
        </p:spPr>
        <p:txBody>
          <a:bodyPr/>
          <a:p>
            <a:pPr algn="just"/>
            <a:r>
              <a:rPr lang="en-US" altLang="en-GB" b="1"/>
              <a:t>GDP vs Happiness</a:t>
            </a:r>
            <a:endParaRPr lang="en-US" altLang="en-GB" b="1"/>
          </a:p>
        </p:txBody>
      </p:sp>
      <p:sp>
        <p:nvSpPr>
          <p:cNvPr id="3" name="Subtitle 2"/>
          <p:cNvSpPr>
            <a:spLocks noGrp="1"/>
          </p:cNvSpPr>
          <p:nvPr>
            <p:ph type="subTitle" idx="1"/>
          </p:nvPr>
        </p:nvSpPr>
        <p:spPr>
          <a:xfrm>
            <a:off x="5614670" y="1384300"/>
            <a:ext cx="6102985" cy="1752600"/>
          </a:xfrm>
        </p:spPr>
        <p:txBody>
          <a:bodyPr/>
          <a:p>
            <a:pPr marL="457200" indent="-457200" algn="just">
              <a:buFont typeface="Arial" panose="020B0604020202020204" pitchFamily="34" charset="0"/>
              <a:buChar char="•"/>
            </a:pPr>
            <a:r>
              <a:rPr lang="en-US" altLang="en-GB" sz="1800">
                <a:latin typeface="Times New Roman" panose="02020603050405020304" charset="0"/>
                <a:cs typeface="Times New Roman" panose="02020603050405020304" charset="0"/>
              </a:rPr>
              <a:t>There is positive correlation between GDP and happiness.</a:t>
            </a:r>
            <a:endParaRPr lang="en-US" altLang="en-GB" sz="1800">
              <a:latin typeface="Times New Roman" panose="02020603050405020304" charset="0"/>
              <a:cs typeface="Times New Roman" panose="02020603050405020304" charset="0"/>
            </a:endParaRPr>
          </a:p>
          <a:p>
            <a:pPr marL="457200" indent="-457200" algn="just">
              <a:buFont typeface="Arial" panose="020B0604020202020204" pitchFamily="34" charset="0"/>
              <a:buChar char="•"/>
            </a:pPr>
            <a:r>
              <a:rPr lang="en-US" altLang="en-GB" sz="1800">
                <a:latin typeface="Times New Roman" panose="02020603050405020304" charset="0"/>
                <a:cs typeface="Times New Roman" panose="02020603050405020304" charset="0"/>
              </a:rPr>
              <a:t>Generally happier countries are those with a higher rate of wealth.</a:t>
            </a:r>
            <a:endParaRPr lang="en-US" altLang="en-GB" sz="1800">
              <a:latin typeface="Times New Roman" panose="02020603050405020304" charset="0"/>
              <a:cs typeface="Times New Roman" panose="02020603050405020304" charset="0"/>
            </a:endParaRPr>
          </a:p>
          <a:p>
            <a:pPr marL="457200" indent="-457200" algn="just">
              <a:buFont typeface="Arial" panose="020B0604020202020204" pitchFamily="34" charset="0"/>
              <a:buChar char="•"/>
            </a:pPr>
            <a:r>
              <a:rPr lang="en-US" altLang="en-GB" sz="1800">
                <a:latin typeface="Times New Roman" panose="02020603050405020304" charset="0"/>
                <a:cs typeface="Times New Roman" panose="02020603050405020304" charset="0"/>
              </a:rPr>
              <a:t>Even countries with moderate GDP will outperform some.</a:t>
            </a:r>
            <a:endParaRPr lang="en-US" altLang="en-GB" sz="1800">
              <a:latin typeface="Times New Roman" panose="02020603050405020304" charset="0"/>
              <a:cs typeface="Times New Roman" panose="02020603050405020304" charset="0"/>
            </a:endParaRPr>
          </a:p>
          <a:p>
            <a:pPr marL="457200" indent="-457200" algn="just">
              <a:buFont typeface="Arial" panose="020B0604020202020204" pitchFamily="34" charset="0"/>
              <a:buChar char="•"/>
            </a:pPr>
            <a:r>
              <a:rPr lang="en-US" altLang="en-GB" sz="1800">
                <a:latin typeface="Times New Roman" panose="02020603050405020304" charset="0"/>
                <a:cs typeface="Times New Roman" panose="02020603050405020304" charset="0"/>
              </a:rPr>
              <a:t>Trendline indicates a positive correlation.</a:t>
            </a:r>
            <a:endParaRPr lang="en-US" altLang="en-GB" sz="1800">
              <a:latin typeface="Times New Roman" panose="02020603050405020304" charset="0"/>
              <a:cs typeface="Times New Roman" panose="02020603050405020304" charset="0"/>
            </a:endParaRPr>
          </a:p>
          <a:p>
            <a:pPr marL="457200" indent="-457200" algn="just">
              <a:buFont typeface="Arial" panose="020B0604020202020204" pitchFamily="34" charset="0"/>
              <a:buChar char="•"/>
            </a:pPr>
            <a:r>
              <a:rPr lang="en-US" altLang="en-GB" sz="1800">
                <a:latin typeface="Times New Roman" panose="02020603050405020304" charset="0"/>
                <a:cs typeface="Times New Roman" panose="02020603050405020304" charset="0"/>
              </a:rPr>
              <a:t>While GDP is important, it is not enough.</a:t>
            </a:r>
            <a:endParaRPr lang="en-US" altLang="en-GB" sz="1800">
              <a:latin typeface="Times New Roman" panose="02020603050405020304" charset="0"/>
              <a:cs typeface="Times New Roman" panose="02020603050405020304" charset="0"/>
            </a:endParaRPr>
          </a:p>
        </p:txBody>
      </p:sp>
      <p:pic>
        <p:nvPicPr>
          <p:cNvPr id="4" name="Picture 3"/>
          <p:cNvPicPr>
            <a:picLocks noChangeAspect="1"/>
          </p:cNvPicPr>
          <p:nvPr/>
        </p:nvPicPr>
        <p:blipFill>
          <a:blip r:embed="rId1"/>
          <a:stretch>
            <a:fillRect/>
          </a:stretch>
        </p:blipFill>
        <p:spPr>
          <a:xfrm>
            <a:off x="0" y="3533140"/>
            <a:ext cx="11196320" cy="332486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a:xfrm>
            <a:off x="5160011" y="328930"/>
            <a:ext cx="9211733" cy="1082675"/>
          </a:xfrm>
        </p:spPr>
        <p:txBody>
          <a:bodyPr/>
          <a:p>
            <a:pPr algn="just"/>
            <a:r>
              <a:rPr lang="en-US" altLang="en-GB" b="1"/>
              <a:t>Social Support &amp; Health</a:t>
            </a:r>
            <a:endParaRPr lang="en-US" altLang="en-GB" b="1"/>
          </a:p>
        </p:txBody>
      </p:sp>
      <p:sp>
        <p:nvSpPr>
          <p:cNvPr id="3" name="Subtitle 2"/>
          <p:cNvSpPr>
            <a:spLocks noGrp="1"/>
          </p:cNvSpPr>
          <p:nvPr>
            <p:ph type="subTitle" idx="1"/>
          </p:nvPr>
        </p:nvSpPr>
        <p:spPr>
          <a:xfrm>
            <a:off x="5519420" y="1411605"/>
            <a:ext cx="6102985" cy="1752600"/>
          </a:xfrm>
        </p:spPr>
        <p:txBody>
          <a:bodyPr/>
          <a:p>
            <a:pPr marL="457200" indent="-457200" algn="just">
              <a:buFont typeface="Arial" panose="020B0604020202020204" pitchFamily="34" charset="0"/>
              <a:buChar char="•"/>
            </a:pPr>
            <a:r>
              <a:rPr lang="en-US" altLang="en-GB" sz="1800">
                <a:latin typeface="Times New Roman" panose="02020603050405020304" charset="0"/>
                <a:cs typeface="Times New Roman" panose="02020603050405020304" charset="0"/>
              </a:rPr>
              <a:t>There's a strong correlation between social support and happiness.</a:t>
            </a:r>
            <a:endParaRPr lang="en-US" altLang="en-GB" sz="1800">
              <a:latin typeface="Times New Roman" panose="02020603050405020304" charset="0"/>
              <a:cs typeface="Times New Roman" panose="02020603050405020304" charset="0"/>
            </a:endParaRPr>
          </a:p>
          <a:p>
            <a:pPr marL="457200" indent="-457200" algn="just">
              <a:buFont typeface="Arial" panose="020B0604020202020204" pitchFamily="34" charset="0"/>
              <a:buChar char="•"/>
            </a:pPr>
            <a:r>
              <a:rPr lang="en-US" altLang="en-GB" sz="1800">
                <a:latin typeface="Times New Roman" panose="02020603050405020304" charset="0"/>
                <a:cs typeface="Times New Roman" panose="02020603050405020304" charset="0"/>
              </a:rPr>
              <a:t>A healthy life expectancy contributes to good quality of life.</a:t>
            </a:r>
            <a:endParaRPr lang="en-US" altLang="en-GB" sz="1800">
              <a:latin typeface="Times New Roman" panose="02020603050405020304" charset="0"/>
              <a:cs typeface="Times New Roman" panose="02020603050405020304" charset="0"/>
            </a:endParaRPr>
          </a:p>
          <a:p>
            <a:pPr marL="457200" indent="-457200" algn="just">
              <a:buFont typeface="Arial" panose="020B0604020202020204" pitchFamily="34" charset="0"/>
              <a:buChar char="•"/>
            </a:pPr>
            <a:r>
              <a:rPr lang="en-US" altLang="en-GB" sz="1800">
                <a:latin typeface="Times New Roman" panose="02020603050405020304" charset="0"/>
                <a:cs typeface="Times New Roman" panose="02020603050405020304" charset="0"/>
              </a:rPr>
              <a:t>The countries, which have a better healthcare system, have a higher score.</a:t>
            </a:r>
            <a:endParaRPr lang="en-US" altLang="en-GB" sz="1800">
              <a:latin typeface="Times New Roman" panose="02020603050405020304" charset="0"/>
              <a:cs typeface="Times New Roman" panose="02020603050405020304" charset="0"/>
            </a:endParaRPr>
          </a:p>
          <a:p>
            <a:pPr marL="457200" indent="-457200" algn="just">
              <a:buFont typeface="Arial" panose="020B0604020202020204" pitchFamily="34" charset="0"/>
              <a:buChar char="•"/>
            </a:pPr>
            <a:r>
              <a:rPr lang="en-US" altLang="en-GB" sz="1800">
                <a:latin typeface="Times New Roman" panose="02020603050405020304" charset="0"/>
                <a:cs typeface="Times New Roman" panose="02020603050405020304" charset="0"/>
              </a:rPr>
              <a:t>Happy people live in happy communities.</a:t>
            </a:r>
            <a:endParaRPr lang="en-US" altLang="en-GB" sz="1800">
              <a:latin typeface="Times New Roman" panose="02020603050405020304" charset="0"/>
              <a:cs typeface="Times New Roman" panose="02020603050405020304" charset="0"/>
            </a:endParaRPr>
          </a:p>
          <a:p>
            <a:pPr marL="457200" indent="-457200" algn="just">
              <a:buFont typeface="Arial" panose="020B0604020202020204" pitchFamily="34" charset="0"/>
              <a:buChar char="•"/>
            </a:pPr>
            <a:r>
              <a:rPr lang="en-US" altLang="en-GB" sz="1800">
                <a:latin typeface="Times New Roman" panose="02020603050405020304" charset="0"/>
                <a:cs typeface="Times New Roman" panose="02020603050405020304" charset="0"/>
              </a:rPr>
              <a:t>Health and relationships go hand-in-hand with economic growth.</a:t>
            </a:r>
            <a:endParaRPr lang="en-US" altLang="en-GB" sz="1800">
              <a:latin typeface="Times New Roman" panose="02020603050405020304" charset="0"/>
              <a:cs typeface="Times New Roman" panose="02020603050405020304" charset="0"/>
            </a:endParaRPr>
          </a:p>
        </p:txBody>
      </p:sp>
      <p:pic>
        <p:nvPicPr>
          <p:cNvPr id="4" name="Picture 3"/>
          <p:cNvPicPr>
            <a:picLocks noChangeAspect="1"/>
          </p:cNvPicPr>
          <p:nvPr/>
        </p:nvPicPr>
        <p:blipFill>
          <a:blip r:embed="rId1"/>
          <a:stretch>
            <a:fillRect/>
          </a:stretch>
        </p:blipFill>
        <p:spPr>
          <a:xfrm>
            <a:off x="0" y="3895090"/>
            <a:ext cx="8460105" cy="296608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a:xfrm>
            <a:off x="4222751" y="872490"/>
            <a:ext cx="9211733" cy="1082675"/>
          </a:xfrm>
        </p:spPr>
        <p:txBody>
          <a:bodyPr/>
          <a:p>
            <a:pPr algn="just"/>
            <a:r>
              <a:rPr lang="en-US" altLang="en-GB" b="1"/>
              <a:t>Freedom, Generosity &amp; Corruption</a:t>
            </a:r>
            <a:endParaRPr lang="en-US" altLang="en-GB" b="1"/>
          </a:p>
        </p:txBody>
      </p:sp>
      <p:sp>
        <p:nvSpPr>
          <p:cNvPr id="3" name="Subtitle 2"/>
          <p:cNvSpPr>
            <a:spLocks noGrp="1"/>
          </p:cNvSpPr>
          <p:nvPr>
            <p:ph type="subTitle" idx="1"/>
          </p:nvPr>
        </p:nvSpPr>
        <p:spPr>
          <a:xfrm>
            <a:off x="5519420" y="1758315"/>
            <a:ext cx="6102985" cy="1752600"/>
          </a:xfrm>
        </p:spPr>
        <p:txBody>
          <a:bodyPr/>
          <a:p>
            <a:pPr marL="457200" indent="-457200" algn="just">
              <a:buFont typeface="Arial" panose="020B0604020202020204" pitchFamily="34" charset="0"/>
              <a:buChar char="•"/>
            </a:pPr>
            <a:r>
              <a:rPr lang="en-US" altLang="en-GB" sz="1800">
                <a:latin typeface="Times New Roman" panose="02020603050405020304" charset="0"/>
                <a:cs typeface="Times New Roman" panose="02020603050405020304" charset="0"/>
              </a:rPr>
              <a:t>The more free one is, the happier they are.</a:t>
            </a:r>
            <a:endParaRPr lang="en-US" altLang="en-GB" sz="1800">
              <a:latin typeface="Times New Roman" panose="02020603050405020304" charset="0"/>
              <a:cs typeface="Times New Roman" panose="02020603050405020304" charset="0"/>
            </a:endParaRPr>
          </a:p>
          <a:p>
            <a:pPr marL="457200" indent="-457200" algn="just">
              <a:buFont typeface="Arial" panose="020B0604020202020204" pitchFamily="34" charset="0"/>
              <a:buChar char="•"/>
            </a:pPr>
            <a:r>
              <a:rPr lang="en-US" altLang="en-GB" sz="1800">
                <a:latin typeface="Times New Roman" panose="02020603050405020304" charset="0"/>
                <a:cs typeface="Times New Roman" panose="02020603050405020304" charset="0"/>
              </a:rPr>
              <a:t>Generosity contributes positively.</a:t>
            </a:r>
            <a:endParaRPr lang="en-US" altLang="en-GB" sz="1800">
              <a:latin typeface="Times New Roman" panose="02020603050405020304" charset="0"/>
              <a:cs typeface="Times New Roman" panose="02020603050405020304" charset="0"/>
            </a:endParaRPr>
          </a:p>
          <a:p>
            <a:pPr marL="457200" indent="-457200" algn="just">
              <a:buFont typeface="Arial" panose="020B0604020202020204" pitchFamily="34" charset="0"/>
              <a:buChar char="•"/>
            </a:pPr>
            <a:r>
              <a:rPr lang="en-US" altLang="en-GB" sz="1800">
                <a:latin typeface="Times New Roman" panose="02020603050405020304" charset="0"/>
                <a:cs typeface="Times New Roman" panose="02020603050405020304" charset="0"/>
              </a:rPr>
              <a:t>Low corruption leads to greater public confidence.</a:t>
            </a:r>
            <a:endParaRPr lang="en-US" altLang="en-GB" sz="1800">
              <a:latin typeface="Times New Roman" panose="02020603050405020304" charset="0"/>
              <a:cs typeface="Times New Roman" panose="02020603050405020304" charset="0"/>
            </a:endParaRPr>
          </a:p>
          <a:p>
            <a:pPr marL="457200" indent="-457200" algn="just">
              <a:buFont typeface="Arial" panose="020B0604020202020204" pitchFamily="34" charset="0"/>
              <a:buChar char="•"/>
            </a:pPr>
            <a:r>
              <a:rPr lang="en-US" altLang="en-GB" sz="1800">
                <a:latin typeface="Times New Roman" panose="02020603050405020304" charset="0"/>
                <a:cs typeface="Times New Roman" panose="02020603050405020304" charset="0"/>
              </a:rPr>
              <a:t>In freedom, people can make better decisions in their lives.</a:t>
            </a:r>
            <a:endParaRPr lang="en-US" altLang="en-GB" sz="1800">
              <a:latin typeface="Times New Roman" panose="02020603050405020304" charset="0"/>
              <a:cs typeface="Times New Roman" panose="02020603050405020304" charset="0"/>
            </a:endParaRPr>
          </a:p>
          <a:p>
            <a:pPr marL="457200" indent="-457200" algn="just">
              <a:buFont typeface="Arial" panose="020B0604020202020204" pitchFamily="34" charset="0"/>
              <a:buChar char="•"/>
            </a:pPr>
            <a:r>
              <a:rPr lang="en-US" altLang="en-GB" sz="1800">
                <a:latin typeface="Times New Roman" panose="02020603050405020304" charset="0"/>
                <a:cs typeface="Times New Roman" panose="02020603050405020304" charset="0"/>
              </a:rPr>
              <a:t>Well-being is supported by ethical governance.</a:t>
            </a:r>
            <a:endParaRPr lang="en-US" altLang="en-GB" sz="1800">
              <a:latin typeface="Times New Roman" panose="02020603050405020304" charset="0"/>
              <a:cs typeface="Times New Roman" panose="02020603050405020304" charset="0"/>
            </a:endParaRPr>
          </a:p>
        </p:txBody>
      </p:sp>
      <p:pic>
        <p:nvPicPr>
          <p:cNvPr id="4" name="Picture 3"/>
          <p:cNvPicPr>
            <a:picLocks noChangeAspect="1"/>
          </p:cNvPicPr>
          <p:nvPr/>
        </p:nvPicPr>
        <p:blipFill>
          <a:blip r:embed="rId1"/>
          <a:stretch>
            <a:fillRect/>
          </a:stretch>
        </p:blipFill>
        <p:spPr>
          <a:xfrm>
            <a:off x="0" y="3778885"/>
            <a:ext cx="9006205" cy="307911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a:xfrm>
            <a:off x="5213986" y="872490"/>
            <a:ext cx="9211733" cy="1082675"/>
          </a:xfrm>
        </p:spPr>
        <p:txBody>
          <a:bodyPr/>
          <a:p>
            <a:pPr algn="just"/>
            <a:r>
              <a:rPr lang="en-US" altLang="en-GB" b="1"/>
              <a:t>Correlation Analysis</a:t>
            </a:r>
            <a:endParaRPr lang="en-US" altLang="en-GB" b="1"/>
          </a:p>
        </p:txBody>
      </p:sp>
      <p:sp>
        <p:nvSpPr>
          <p:cNvPr id="3" name="Subtitle 2"/>
          <p:cNvSpPr>
            <a:spLocks noGrp="1"/>
          </p:cNvSpPr>
          <p:nvPr>
            <p:ph type="subTitle" idx="1"/>
          </p:nvPr>
        </p:nvSpPr>
        <p:spPr>
          <a:xfrm>
            <a:off x="5519420" y="2070735"/>
            <a:ext cx="6102985" cy="1752600"/>
          </a:xfrm>
        </p:spPr>
        <p:txBody>
          <a:bodyPr/>
          <a:p>
            <a:pPr marL="457200" indent="-457200" algn="just">
              <a:buFont typeface="Arial" panose="020B0604020202020204" pitchFamily="34" charset="0"/>
              <a:buChar char="•"/>
            </a:pPr>
            <a:r>
              <a:rPr lang="en-US" altLang="en-GB" sz="1800">
                <a:latin typeface="Times New Roman" panose="02020603050405020304" charset="0"/>
                <a:cs typeface="Times New Roman" panose="02020603050405020304" charset="0"/>
              </a:rPr>
              <a:t>The strongest correlation is that with GDP.</a:t>
            </a:r>
            <a:endParaRPr lang="en-US" altLang="en-GB" sz="1800">
              <a:latin typeface="Times New Roman" panose="02020603050405020304" charset="0"/>
              <a:cs typeface="Times New Roman" panose="02020603050405020304" charset="0"/>
            </a:endParaRPr>
          </a:p>
          <a:p>
            <a:pPr marL="457200" indent="-457200" algn="just">
              <a:buFont typeface="Arial" panose="020B0604020202020204" pitchFamily="34" charset="0"/>
              <a:buChar char="•"/>
            </a:pPr>
            <a:r>
              <a:rPr lang="en-US" altLang="en-GB" sz="1800">
                <a:latin typeface="Times New Roman" panose="02020603050405020304" charset="0"/>
                <a:cs typeface="Times New Roman" panose="02020603050405020304" charset="0"/>
              </a:rPr>
              <a:t>Social support is a strong factor.</a:t>
            </a:r>
            <a:endParaRPr lang="en-US" altLang="en-GB" sz="1800">
              <a:latin typeface="Times New Roman" panose="02020603050405020304" charset="0"/>
              <a:cs typeface="Times New Roman" panose="02020603050405020304" charset="0"/>
            </a:endParaRPr>
          </a:p>
          <a:p>
            <a:pPr marL="457200" indent="-457200" algn="just">
              <a:buFont typeface="Arial" panose="020B0604020202020204" pitchFamily="34" charset="0"/>
              <a:buChar char="•"/>
            </a:pPr>
            <a:r>
              <a:rPr lang="en-US" altLang="en-GB" sz="1800">
                <a:latin typeface="Times New Roman" panose="02020603050405020304" charset="0"/>
                <a:cs typeface="Times New Roman" panose="02020603050405020304" charset="0"/>
              </a:rPr>
              <a:t>Among the factors that are highlighted is healthy life expectancy.</a:t>
            </a:r>
            <a:endParaRPr lang="en-US" altLang="en-GB" sz="1800">
              <a:latin typeface="Times New Roman" panose="02020603050405020304" charset="0"/>
              <a:cs typeface="Times New Roman" panose="02020603050405020304" charset="0"/>
            </a:endParaRPr>
          </a:p>
          <a:p>
            <a:pPr marL="457200" indent="-457200" algn="just">
              <a:buFont typeface="Arial" panose="020B0604020202020204" pitchFamily="34" charset="0"/>
              <a:buChar char="•"/>
            </a:pPr>
            <a:r>
              <a:rPr lang="en-US" altLang="en-GB" sz="1800">
                <a:latin typeface="Times New Roman" panose="02020603050405020304" charset="0"/>
                <a:cs typeface="Times New Roman" panose="02020603050405020304" charset="0"/>
              </a:rPr>
              <a:t>The correlation with Generosity is weaker.</a:t>
            </a:r>
            <a:endParaRPr lang="en-US" altLang="en-GB" sz="1800">
              <a:latin typeface="Times New Roman" panose="02020603050405020304" charset="0"/>
              <a:cs typeface="Times New Roman" panose="02020603050405020304" charset="0"/>
            </a:endParaRPr>
          </a:p>
          <a:p>
            <a:pPr marL="457200" indent="-457200" algn="just">
              <a:buFont typeface="Arial" panose="020B0604020202020204" pitchFamily="34" charset="0"/>
              <a:buChar char="•"/>
            </a:pPr>
            <a:r>
              <a:rPr lang="en-US" altLang="en-GB" sz="1800">
                <a:latin typeface="Times New Roman" panose="02020603050405020304" charset="0"/>
                <a:cs typeface="Times New Roman" panose="02020603050405020304" charset="0"/>
              </a:rPr>
              <a:t>Correlation indicates significant predictors.</a:t>
            </a:r>
            <a:endParaRPr lang="en-US" altLang="en-GB" sz="1800">
              <a:latin typeface="Times New Roman" panose="02020603050405020304" charset="0"/>
              <a:cs typeface="Times New Roman" panose="02020603050405020304" charset="0"/>
            </a:endParaRPr>
          </a:p>
        </p:txBody>
      </p:sp>
      <p:pic>
        <p:nvPicPr>
          <p:cNvPr id="4" name="Picture 3"/>
          <p:cNvPicPr>
            <a:picLocks noChangeAspect="1"/>
          </p:cNvPicPr>
          <p:nvPr/>
        </p:nvPicPr>
        <p:blipFill>
          <a:blip r:embed="rId1"/>
          <a:stretch>
            <a:fillRect/>
          </a:stretch>
        </p:blipFill>
        <p:spPr>
          <a:xfrm>
            <a:off x="0" y="4225925"/>
            <a:ext cx="9822180" cy="266192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a:xfrm>
            <a:off x="4236086" y="872490"/>
            <a:ext cx="9211733" cy="1082675"/>
          </a:xfrm>
        </p:spPr>
        <p:txBody>
          <a:bodyPr/>
          <a:p>
            <a:pPr algn="just"/>
            <a:r>
              <a:rPr lang="en-US" altLang="en-GB" b="1"/>
              <a:t>Distribution &amp; Radar Comparison</a:t>
            </a:r>
            <a:endParaRPr lang="en-US" altLang="en-GB" b="1"/>
          </a:p>
        </p:txBody>
      </p:sp>
      <p:sp>
        <p:nvSpPr>
          <p:cNvPr id="3" name="Subtitle 2"/>
          <p:cNvSpPr>
            <a:spLocks noGrp="1"/>
          </p:cNvSpPr>
          <p:nvPr>
            <p:ph type="subTitle" idx="1"/>
          </p:nvPr>
        </p:nvSpPr>
        <p:spPr>
          <a:xfrm>
            <a:off x="5519420" y="2070735"/>
            <a:ext cx="6102985" cy="1752600"/>
          </a:xfrm>
        </p:spPr>
        <p:txBody>
          <a:bodyPr/>
          <a:p>
            <a:pPr marL="457200" indent="-457200" algn="just">
              <a:buFont typeface="Arial" panose="020B0604020202020204" pitchFamily="34" charset="0"/>
              <a:buChar char="•"/>
            </a:pPr>
            <a:r>
              <a:rPr lang="en-US" altLang="en-GB" sz="1800">
                <a:latin typeface="Times New Roman" panose="02020603050405020304" charset="0"/>
                <a:cs typeface="Times New Roman" panose="02020603050405020304" charset="0"/>
              </a:rPr>
              <a:t>Happiness scores are approximately normally distributed.</a:t>
            </a:r>
            <a:endParaRPr lang="en-US" altLang="en-GB" sz="1800">
              <a:latin typeface="Times New Roman" panose="02020603050405020304" charset="0"/>
              <a:cs typeface="Times New Roman" panose="02020603050405020304" charset="0"/>
            </a:endParaRPr>
          </a:p>
          <a:p>
            <a:pPr marL="457200" indent="-457200" algn="just">
              <a:buFont typeface="Arial" panose="020B0604020202020204" pitchFamily="34" charset="0"/>
              <a:buChar char="•"/>
            </a:pPr>
            <a:r>
              <a:rPr lang="en-US" altLang="en-GB" sz="1800">
                <a:latin typeface="Times New Roman" panose="02020603050405020304" charset="0"/>
                <a:cs typeface="Times New Roman" panose="02020603050405020304" charset="0"/>
              </a:rPr>
              <a:t>The majority of countries are in the middle band.</a:t>
            </a:r>
            <a:endParaRPr lang="en-US" altLang="en-GB" sz="1800">
              <a:latin typeface="Times New Roman" panose="02020603050405020304" charset="0"/>
              <a:cs typeface="Times New Roman" panose="02020603050405020304" charset="0"/>
            </a:endParaRPr>
          </a:p>
          <a:p>
            <a:pPr marL="457200" indent="-457200" algn="just">
              <a:buFont typeface="Arial" panose="020B0604020202020204" pitchFamily="34" charset="0"/>
              <a:buChar char="•"/>
            </a:pPr>
            <a:r>
              <a:rPr lang="en-US" altLang="en-GB" sz="1800">
                <a:latin typeface="Times New Roman" panose="02020603050405020304" charset="0"/>
                <a:cs typeface="Times New Roman" panose="02020603050405020304" charset="0"/>
              </a:rPr>
              <a:t>Best countries are good on most indicators.</a:t>
            </a:r>
            <a:endParaRPr lang="en-US" altLang="en-GB" sz="1800">
              <a:latin typeface="Times New Roman" panose="02020603050405020304" charset="0"/>
              <a:cs typeface="Times New Roman" panose="02020603050405020304" charset="0"/>
            </a:endParaRPr>
          </a:p>
          <a:p>
            <a:pPr marL="457200" indent="-457200" algn="just">
              <a:buFont typeface="Arial" panose="020B0604020202020204" pitchFamily="34" charset="0"/>
              <a:buChar char="•"/>
            </a:pPr>
            <a:r>
              <a:rPr lang="en-US" altLang="en-GB" sz="1800">
                <a:latin typeface="Times New Roman" panose="02020603050405020304" charset="0"/>
                <a:cs typeface="Times New Roman" panose="02020603050405020304" charset="0"/>
              </a:rPr>
              <a:t>Radar chart allows for multiple comparisons.</a:t>
            </a:r>
            <a:endParaRPr lang="en-US" altLang="en-GB" sz="1800">
              <a:latin typeface="Times New Roman" panose="02020603050405020304" charset="0"/>
              <a:cs typeface="Times New Roman" panose="02020603050405020304" charset="0"/>
            </a:endParaRPr>
          </a:p>
          <a:p>
            <a:pPr marL="457200" indent="-457200" algn="just">
              <a:buFont typeface="Arial" panose="020B0604020202020204" pitchFamily="34" charset="0"/>
              <a:buChar char="•"/>
            </a:pPr>
            <a:r>
              <a:rPr lang="en-US" altLang="en-GB" sz="1800">
                <a:latin typeface="Times New Roman" panose="02020603050405020304" charset="0"/>
                <a:cs typeface="Times New Roman" panose="02020603050405020304" charset="0"/>
              </a:rPr>
              <a:t>Balanced performance equals better ranking.</a:t>
            </a:r>
            <a:endParaRPr lang="en-US" altLang="en-GB" sz="1800">
              <a:latin typeface="Times New Roman" panose="02020603050405020304" charset="0"/>
              <a:cs typeface="Times New Roman" panose="02020603050405020304" charset="0"/>
            </a:endParaRPr>
          </a:p>
        </p:txBody>
      </p:sp>
      <p:pic>
        <p:nvPicPr>
          <p:cNvPr id="5" name="Picture 4"/>
          <p:cNvPicPr>
            <a:picLocks noChangeAspect="1"/>
          </p:cNvPicPr>
          <p:nvPr/>
        </p:nvPicPr>
        <p:blipFill>
          <a:blip r:embed="rId1"/>
          <a:stretch>
            <a:fillRect/>
          </a:stretch>
        </p:blipFill>
        <p:spPr>
          <a:xfrm>
            <a:off x="7620" y="3964940"/>
            <a:ext cx="6908800" cy="303022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a:xfrm>
            <a:off x="1289051" y="180340"/>
            <a:ext cx="9211733" cy="1082675"/>
          </a:xfrm>
        </p:spPr>
        <p:txBody>
          <a:bodyPr/>
          <a:p>
            <a:pPr algn="just"/>
            <a:r>
              <a:rPr lang="en-US" altLang="en-GB" b="1"/>
              <a:t>Streamlit Dashboard for World Happiness Analysis</a:t>
            </a:r>
            <a:br>
              <a:rPr lang="en-US" altLang="en-GB" b="1"/>
            </a:br>
            <a:endParaRPr lang="en-US" altLang="en-GB" b="1"/>
          </a:p>
        </p:txBody>
      </p:sp>
      <p:pic>
        <p:nvPicPr>
          <p:cNvPr id="4" name="Picture 3"/>
          <p:cNvPicPr>
            <a:picLocks noChangeAspect="1"/>
          </p:cNvPicPr>
          <p:nvPr/>
        </p:nvPicPr>
        <p:blipFill>
          <a:blip r:embed="rId1"/>
          <a:stretch>
            <a:fillRect/>
          </a:stretch>
        </p:blipFill>
        <p:spPr>
          <a:xfrm>
            <a:off x="0" y="1724660"/>
            <a:ext cx="5597525" cy="2501265"/>
          </a:xfrm>
          <a:prstGeom prst="rect">
            <a:avLst/>
          </a:prstGeom>
        </p:spPr>
      </p:pic>
      <p:pic>
        <p:nvPicPr>
          <p:cNvPr id="6" name="Picture 5"/>
          <p:cNvPicPr>
            <a:picLocks noChangeAspect="1"/>
          </p:cNvPicPr>
          <p:nvPr/>
        </p:nvPicPr>
        <p:blipFill>
          <a:blip r:embed="rId2"/>
          <a:stretch>
            <a:fillRect/>
          </a:stretch>
        </p:blipFill>
        <p:spPr>
          <a:xfrm>
            <a:off x="6096000" y="4077970"/>
            <a:ext cx="6190615" cy="2780030"/>
          </a:xfrm>
          <a:prstGeom prst="rect">
            <a:avLst/>
          </a:prstGeom>
        </p:spPr>
      </p:pic>
      <p:pic>
        <p:nvPicPr>
          <p:cNvPr id="7" name="Picture 6"/>
          <p:cNvPicPr>
            <a:picLocks noChangeAspect="1"/>
          </p:cNvPicPr>
          <p:nvPr/>
        </p:nvPicPr>
        <p:blipFill>
          <a:blip r:embed="rId3"/>
          <a:stretch>
            <a:fillRect/>
          </a:stretch>
        </p:blipFill>
        <p:spPr>
          <a:xfrm>
            <a:off x="0" y="4225925"/>
            <a:ext cx="6096000" cy="2632075"/>
          </a:xfrm>
          <a:prstGeom prst="rect">
            <a:avLst/>
          </a:prstGeom>
        </p:spPr>
      </p:pic>
      <p:pic>
        <p:nvPicPr>
          <p:cNvPr id="8" name="Picture 7"/>
          <p:cNvPicPr>
            <a:picLocks noChangeAspect="1"/>
          </p:cNvPicPr>
          <p:nvPr/>
        </p:nvPicPr>
        <p:blipFill>
          <a:blip r:embed="rId4"/>
          <a:stretch>
            <a:fillRect/>
          </a:stretch>
        </p:blipFill>
        <p:spPr>
          <a:xfrm>
            <a:off x="5597525" y="1724660"/>
            <a:ext cx="6594475" cy="2353945"/>
          </a:xfrm>
          <a:prstGeom prst="rect">
            <a:avLst/>
          </a:prstGeom>
        </p:spPr>
      </p:pic>
      <p:sp>
        <p:nvSpPr>
          <p:cNvPr id="9" name="Text Box 8"/>
          <p:cNvSpPr txBox="1"/>
          <p:nvPr/>
        </p:nvSpPr>
        <p:spPr>
          <a:xfrm>
            <a:off x="3173095" y="1209040"/>
            <a:ext cx="6096000" cy="368300"/>
          </a:xfrm>
          <a:prstGeom prst="rect">
            <a:avLst/>
          </a:prstGeom>
          <a:noFill/>
        </p:spPr>
        <p:txBody>
          <a:bodyPr wrap="square" rtlCol="0" anchor="t">
            <a:spAutoFit/>
          </a:bodyPr>
          <a:p>
            <a:r>
              <a:rPr lang="en-US" altLang="en-GB">
                <a:solidFill>
                  <a:srgbClr val="0070C0"/>
                </a:solidFill>
              </a:rPr>
              <a:t>http://localhost:8502/</a:t>
            </a:r>
            <a:endParaRPr lang="en-US" altLang="en-GB">
              <a:solidFill>
                <a:srgbClr val="0070C0"/>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a:xfrm>
            <a:off x="2252981" y="641985"/>
            <a:ext cx="9211733" cy="1082675"/>
          </a:xfrm>
        </p:spPr>
        <p:txBody>
          <a:bodyPr/>
          <a:p>
            <a:pPr algn="just"/>
            <a:r>
              <a:rPr lang="en-US" altLang="en-GB" b="1"/>
              <a:t>Conclusions &amp; Future Work</a:t>
            </a:r>
            <a:endParaRPr lang="en-US" altLang="en-GB" b="1"/>
          </a:p>
        </p:txBody>
      </p:sp>
      <p:sp>
        <p:nvSpPr>
          <p:cNvPr id="3" name="Subtitle 2"/>
          <p:cNvSpPr>
            <a:spLocks noGrp="1"/>
          </p:cNvSpPr>
          <p:nvPr>
            <p:ph type="subTitle" idx="1"/>
          </p:nvPr>
        </p:nvSpPr>
        <p:spPr>
          <a:xfrm>
            <a:off x="5361940" y="1724660"/>
            <a:ext cx="6102985" cy="1752600"/>
          </a:xfrm>
        </p:spPr>
        <p:txBody>
          <a:bodyPr/>
          <a:p>
            <a:pPr marL="457200" indent="-457200" algn="just">
              <a:buFont typeface="Arial" panose="020B0604020202020204" pitchFamily="34" charset="0"/>
              <a:buChar char="•"/>
            </a:pPr>
            <a:r>
              <a:rPr lang="en-US" altLang="en-GB" sz="1800">
                <a:latin typeface="Times New Roman" panose="02020603050405020304" charset="0"/>
                <a:cs typeface="Times New Roman" panose="02020603050405020304" charset="0"/>
              </a:rPr>
              <a:t>There are several factors that contribute to happiness—all of which are interrelated.</a:t>
            </a:r>
            <a:endParaRPr lang="en-US" altLang="en-GB" sz="1800">
              <a:latin typeface="Times New Roman" panose="02020603050405020304" charset="0"/>
              <a:cs typeface="Times New Roman" panose="02020603050405020304" charset="0"/>
            </a:endParaRPr>
          </a:p>
          <a:p>
            <a:pPr marL="457200" indent="-457200" algn="just">
              <a:buFont typeface="Arial" panose="020B0604020202020204" pitchFamily="34" charset="0"/>
              <a:buChar char="•"/>
            </a:pPr>
            <a:r>
              <a:rPr lang="en-US" altLang="en-GB" sz="1800">
                <a:latin typeface="Times New Roman" panose="02020603050405020304" charset="0"/>
                <a:cs typeface="Times New Roman" panose="02020603050405020304" charset="0"/>
              </a:rPr>
              <a:t>National well-being cannot be measured only in terms of GDP.</a:t>
            </a:r>
            <a:endParaRPr lang="en-US" altLang="en-GB" sz="1800">
              <a:latin typeface="Times New Roman" panose="02020603050405020304" charset="0"/>
              <a:cs typeface="Times New Roman" panose="02020603050405020304" charset="0"/>
            </a:endParaRPr>
          </a:p>
          <a:p>
            <a:pPr marL="457200" indent="-457200" algn="just">
              <a:buFont typeface="Arial" panose="020B0604020202020204" pitchFamily="34" charset="0"/>
              <a:buChar char="•"/>
            </a:pPr>
            <a:r>
              <a:rPr lang="en-US" altLang="en-GB" sz="1800">
                <a:latin typeface="Times New Roman" panose="02020603050405020304" charset="0"/>
                <a:cs typeface="Times New Roman" panose="02020603050405020304" charset="0"/>
              </a:rPr>
              <a:t>Social supports and health are essential.</a:t>
            </a:r>
            <a:endParaRPr lang="en-US" altLang="en-GB" sz="1800">
              <a:latin typeface="Times New Roman" panose="02020603050405020304" charset="0"/>
              <a:cs typeface="Times New Roman" panose="02020603050405020304" charset="0"/>
            </a:endParaRPr>
          </a:p>
          <a:p>
            <a:pPr marL="457200" indent="-457200" algn="just">
              <a:buFont typeface="Arial" panose="020B0604020202020204" pitchFamily="34" charset="0"/>
              <a:buChar char="•"/>
            </a:pPr>
            <a:r>
              <a:rPr lang="en-US" altLang="en-GB" sz="1800">
                <a:latin typeface="Times New Roman" panose="02020603050405020304" charset="0"/>
                <a:cs typeface="Times New Roman" panose="02020603050405020304" charset="0"/>
              </a:rPr>
              <a:t>The moral administration, increases the joy.</a:t>
            </a:r>
            <a:endParaRPr lang="en-US" altLang="en-GB" sz="1800">
              <a:latin typeface="Times New Roman" panose="02020603050405020304" charset="0"/>
              <a:cs typeface="Times New Roman" panose="02020603050405020304" charset="0"/>
            </a:endParaRPr>
          </a:p>
          <a:p>
            <a:pPr marL="457200" indent="-457200" algn="just">
              <a:buFont typeface="Arial" panose="020B0604020202020204" pitchFamily="34" charset="0"/>
              <a:buChar char="•"/>
            </a:pPr>
            <a:r>
              <a:rPr lang="en-US" altLang="en-GB" sz="1800">
                <a:latin typeface="Times New Roman" panose="02020603050405020304" charset="0"/>
                <a:cs typeface="Times New Roman" panose="02020603050405020304" charset="0"/>
              </a:rPr>
              <a:t>Regional and temporal analysis can be done in future studies.</a:t>
            </a:r>
            <a:endParaRPr lang="en-US" altLang="en-GB" sz="1800">
              <a:latin typeface="Times New Roman" panose="02020603050405020304" charset="0"/>
              <a:cs typeface="Times New Roman" panose="0202060305040502030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a:xfrm>
            <a:off x="2103756" y="0"/>
            <a:ext cx="9211733" cy="1082675"/>
          </a:xfrm>
        </p:spPr>
        <p:txBody>
          <a:bodyPr/>
          <a:p>
            <a:pPr algn="just"/>
            <a:r>
              <a:rPr lang="en-US" altLang="en-GB" b="1"/>
              <a:t>References</a:t>
            </a:r>
            <a:endParaRPr lang="en-US" altLang="en-GB" b="1"/>
          </a:p>
        </p:txBody>
      </p:sp>
      <p:sp>
        <p:nvSpPr>
          <p:cNvPr id="3" name="Subtitle 2"/>
          <p:cNvSpPr>
            <a:spLocks noGrp="1"/>
          </p:cNvSpPr>
          <p:nvPr>
            <p:ph type="subTitle" idx="1"/>
          </p:nvPr>
        </p:nvSpPr>
        <p:spPr>
          <a:xfrm>
            <a:off x="4519930" y="1082675"/>
            <a:ext cx="6944995" cy="1752600"/>
          </a:xfrm>
        </p:spPr>
        <p:txBody>
          <a:bodyPr/>
          <a:p>
            <a:pPr marL="457200" indent="-457200" algn="just">
              <a:buFont typeface="Arial" panose="020B0604020202020204" pitchFamily="34" charset="0"/>
              <a:buChar char="•"/>
            </a:pPr>
            <a:r>
              <a:rPr lang="en-US" altLang="en-GB" sz="1800">
                <a:latin typeface="Times New Roman" panose="02020603050405020304" charset="0"/>
                <a:cs typeface="Times New Roman" panose="02020603050405020304" charset="0"/>
              </a:rPr>
              <a:t>Bingham, A.J. (2023). From data management to actionable findings: A five-phase process of qualitative data analysis. International Journal of Qualitative Methods, [online] 22(22), pp.1–11. doi:https://doi.org/10.1177/16094069231183620.</a:t>
            </a:r>
            <a:endParaRPr lang="en-US" altLang="en-GB" sz="1800">
              <a:latin typeface="Times New Roman" panose="02020603050405020304" charset="0"/>
              <a:cs typeface="Times New Roman" panose="02020603050405020304" charset="0"/>
            </a:endParaRPr>
          </a:p>
          <a:p>
            <a:pPr marL="457200" indent="-457200" algn="just">
              <a:buFont typeface="Arial" panose="020B0604020202020204" pitchFamily="34" charset="0"/>
              <a:buChar char="•"/>
            </a:pPr>
            <a:r>
              <a:rPr lang="en-US" altLang="en-GB" sz="1800">
                <a:latin typeface="Times New Roman" panose="02020603050405020304" charset="0"/>
                <a:cs typeface="Times New Roman" panose="02020603050405020304" charset="0"/>
              </a:rPr>
              <a:t>Kumar, S., Sharma, D., Rao, S., Lim, W.M. and Mangla, S.K. (2022). Past, present, and future of sustainable finance: Insights from big data analytics through machine learning of scholarly research. Annals of Operations Research, 345. doi:10.1007/s10479-021-04410-8.</a:t>
            </a:r>
            <a:endParaRPr lang="en-US" altLang="en-GB" sz="1800">
              <a:latin typeface="Times New Roman" panose="02020603050405020304" charset="0"/>
              <a:cs typeface="Times New Roman" panose="02020603050405020304" charset="0"/>
            </a:endParaRPr>
          </a:p>
          <a:p>
            <a:pPr marL="457200" indent="-457200" algn="just">
              <a:buFont typeface="Arial" panose="020B0604020202020204" pitchFamily="34" charset="0"/>
              <a:buChar char="•"/>
            </a:pPr>
            <a:r>
              <a:rPr lang="en-US" altLang="en-GB" sz="1800">
                <a:latin typeface="Times New Roman" panose="02020603050405020304" charset="0"/>
                <a:cs typeface="Times New Roman" panose="02020603050405020304" charset="0"/>
              </a:rPr>
              <a:t>Wu, S., Luan, W., Wang, Y., Zeng, D., Shen, Q. and Tang, B. (2025). Data Insights as Data: Quick Overview and Exploration of Automated Data Insights. arXiv.org. [online] doi:10.1145/3706599.3719702.</a:t>
            </a:r>
            <a:endParaRPr lang="en-US" altLang="en-GB" sz="1800">
              <a:latin typeface="Times New Roman" panose="02020603050405020304" charset="0"/>
              <a:cs typeface="Times New Roman" panose="02020603050405020304" charset="0"/>
            </a:endParaRPr>
          </a:p>
          <a:p>
            <a:pPr marL="457200" indent="-457200" algn="just">
              <a:buFont typeface="Arial" panose="020B0604020202020204" pitchFamily="34" charset="0"/>
              <a:buChar char="•"/>
            </a:pPr>
            <a:r>
              <a:rPr lang="en-US" altLang="en-GB" sz="1800">
                <a:latin typeface="Times New Roman" panose="02020603050405020304" charset="0"/>
                <a:cs typeface="Times New Roman" panose="02020603050405020304" charset="0"/>
              </a:rPr>
              <a:t>Yousfi, S., Chiadmi, D. and Rhanoui, M. (2022). Smart big data framework for insight discovery. Journal of King Saud University - Computer and Information Sciences. doi:10.1016/j.jksuci.2021.12.009.</a:t>
            </a:r>
            <a:endParaRPr lang="en-US" altLang="en-GB" sz="1800">
              <a:latin typeface="Times New Roman" panose="02020603050405020304" charset="0"/>
              <a:cs typeface="Times New Roman" panose="02020603050405020304" charset="0"/>
            </a:endParaRPr>
          </a:p>
        </p:txBody>
      </p:sp>
    </p:spTree>
  </p:cSld>
  <p:clrMapOvr>
    <a:masterClrMapping/>
  </p:clrMapOvr>
</p:sld>
</file>

<file path=ppt/theme/theme1.xml><?xml version="1.0" encoding="utf-8"?>
<a:theme xmlns:a="http://schemas.openxmlformats.org/drawingml/2006/main" name="Gear Drives">
  <a:themeElements>
    <a:clrScheme name="Gear Drives 13">
      <a:dk1>
        <a:srgbClr val="000000"/>
      </a:dk1>
      <a:lt1>
        <a:srgbClr val="FFFFFF"/>
      </a:lt1>
      <a:dk2>
        <a:srgbClr val="000000"/>
      </a:dk2>
      <a:lt2>
        <a:srgbClr val="969696"/>
      </a:lt2>
      <a:accent1>
        <a:srgbClr val="5F5F5F"/>
      </a:accent1>
      <a:accent2>
        <a:srgbClr val="969696"/>
      </a:accent2>
      <a:accent3>
        <a:srgbClr val="FFFFFF"/>
      </a:accent3>
      <a:accent4>
        <a:srgbClr val="000000"/>
      </a:accent4>
      <a:accent5>
        <a:srgbClr val="B6B6B6"/>
      </a:accent5>
      <a:accent6>
        <a:srgbClr val="878787"/>
      </a:accent6>
      <a:hlink>
        <a:srgbClr val="CC3300"/>
      </a:hlink>
      <a:folHlink>
        <a:srgbClr val="996600"/>
      </a:folHlink>
    </a:clrScheme>
    <a:fontScheme name="Gear Drives">
      <a:majorFont>
        <a:latin typeface="Arial"/>
        <a:ea typeface="SimSun"/>
        <a:cs typeface=""/>
      </a:majorFont>
      <a:minorFont>
        <a:latin typeface="Arial"/>
        <a:ea typeface="SimSun"/>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spDef>
    <a:ln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lnDef>
  </a:objectDefaults>
  <a:extraClrSchemeLst>
    <a:extraClrScheme>
      <a:clrScheme name="Gear Drives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Gear Drives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Gear Drives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Gear Drives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Gear Drives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Gear Drives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Gear Drives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Gear Drives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Gear Drives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Gear Drives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Gear Drives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Gear Drives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Gear Drives 13">
        <a:dk1>
          <a:srgbClr val="000000"/>
        </a:dk1>
        <a:lt1>
          <a:srgbClr val="FFFFFF"/>
        </a:lt1>
        <a:dk2>
          <a:srgbClr val="000000"/>
        </a:dk2>
        <a:lt2>
          <a:srgbClr val="969696"/>
        </a:lt2>
        <a:accent1>
          <a:srgbClr val="5F5F5F"/>
        </a:accent1>
        <a:accent2>
          <a:srgbClr val="969696"/>
        </a:accent2>
        <a:accent3>
          <a:srgbClr val="FFFFFF"/>
        </a:accent3>
        <a:accent4>
          <a:srgbClr val="000000"/>
        </a:accent4>
        <a:accent5>
          <a:srgbClr val="B6B6B6"/>
        </a:accent5>
        <a:accent6>
          <a:srgbClr val="878787"/>
        </a:accent6>
        <a:hlink>
          <a:srgbClr val="CC3300"/>
        </a:hlink>
        <a:folHlink>
          <a:srgbClr val="9966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3314</Words>
  <Application>WPS Presentation</Application>
  <PresentationFormat>Widescreen</PresentationFormat>
  <Paragraphs>77</Paragraphs>
  <Slides>11</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11</vt:i4>
      </vt:variant>
    </vt:vector>
  </HeadingPairs>
  <TitlesOfParts>
    <vt:vector size="20" baseType="lpstr">
      <vt:lpstr>Arial</vt:lpstr>
      <vt:lpstr>SimSun</vt:lpstr>
      <vt:lpstr>Wingdings</vt:lpstr>
      <vt:lpstr>Arial Unicode MS</vt:lpstr>
      <vt:lpstr>Calibri Light</vt:lpstr>
      <vt:lpstr>Calibri</vt:lpstr>
      <vt:lpstr>Microsoft YaHei</vt:lpstr>
      <vt:lpstr>Times New Roman</vt:lpstr>
      <vt:lpstr>Gear Drives</vt:lpstr>
      <vt:lpstr>PowerPoint 演示文稿</vt:lpstr>
      <vt:lpstr>Overview of the Dataset</vt:lpstr>
      <vt:lpstr>Overview of the Dataset</vt:lpstr>
      <vt:lpstr>Top Happiest Countries</vt:lpstr>
      <vt:lpstr>GDP vs Happiness</vt:lpstr>
      <vt:lpstr>Social Support &amp; Health</vt:lpstr>
      <vt:lpstr>Freedom, Generosity &amp; Corruption</vt:lpstr>
      <vt:lpstr>Correlation Analysis</vt:lpstr>
      <vt:lpstr>Distribution &amp; Radar Comparison</vt:lpstr>
      <vt:lpstr>Streamlit Dashboard for World Happiness Analysis</vt:lpstr>
      <vt:lpstr>Conclusions &amp; Future Work</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e7288</dc:creator>
  <cp:lastModifiedBy>DEEPANSHU MAHTO</cp:lastModifiedBy>
  <cp:revision>3</cp:revision>
  <dcterms:created xsi:type="dcterms:W3CDTF">2025-07-23T00:59:00Z</dcterms:created>
  <dcterms:modified xsi:type="dcterms:W3CDTF">2026-07-15T15:34:08Z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8AAE47B519834C34A9DC506391BD4412_11</vt:lpwstr>
  </property>
  <property fmtid="{D5CDD505-2E9C-101B-9397-08002B2CF9AE}" pid="3" name="KSOProductBuildVer">
    <vt:lpwstr>2057-12.2.0.23206</vt:lpwstr>
  </property>
</Properties>
</file>